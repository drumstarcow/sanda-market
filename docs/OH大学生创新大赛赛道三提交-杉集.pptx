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351" userDrawn="true">
          <p15:clr>
            <a:srgbClr val="A4A3A4"/>
          </p15:clr>
        </p15:guide>
        <p15:guide id="2" pos="3840" userDrawn="true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6491" autoAdjust="false"/>
    <p:restoredTop sz="94607" autoAdjust="false"/>
  </p:normalViewPr>
  <p:slideViewPr>
    <p:cSldViewPr snapToGrid="false" showGuides="true">
      <p:cViewPr varScale="true">
        <p:scale>
          <a:sx n="62" d="100"/>
          <a:sy n="62" d="100"/>
        </p:scale>
        <p:origin x="431" y="2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tableStyles" Target="tableStyles.xml"/><Relationship Id="rId1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9CE6E62-0A4A-440F-A3A0-1904151E0F67}" type="datetimeFigureOut">
              <a:rPr lang="zh-CN" altLang="en-US" smtClean="false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F45C4DF4-6413-405D-8311-20A510DC5EFC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F45C4DF4-6413-405D-8311-20A510DC5EFC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1.png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2.png"/><Relationship Id="rId2" Type="http://schemas.openxmlformats.org/officeDocument/2006/relationships/image" Target="media/image3.png"/><Relationship Id="rId3" Type="http://schemas.openxmlformats.org/officeDocument/2006/relationships/image" Target="media/image4.png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5.png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6.png"/><Relationship Id="rId2" Type="http://schemas.openxmlformats.org/officeDocument/2006/relationships/image" Target="media/image5.png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true"/>
          </p:cNvPicPr>
          <p:nvPr userDrawn="true"/>
        </p:nvPicPr>
        <p:blipFill>
          <a:blip r:embed="rId1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true"/>
          </p:cNvPicPr>
          <p:nvPr userDrawn="true"/>
        </p:nvPicPr>
        <p:blipFill rotWithShape="true">
          <a:blip r:embed="rId1" cstate="print">
            <a:alphaModFix amt="20000"/>
            <a:extLst>
              <a:ext uri="{28A0092B-C50C-407E-A947-70E740481C1C}"/>
            </a:extLst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true"/>
          </p:cNvPicPr>
          <p:nvPr userDrawn="true"/>
        </p:nvPicPr>
        <p:blipFill>
          <a:blip r:embed="rId2" cstate="print">
            <a:alphaModFix amt="21000"/>
            <a:extLst>
              <a:ext uri="{28A0092B-C50C-407E-A947-70E740481C1C}"/>
            </a:extLst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true"/>
          </p:cNvPicPr>
          <p:nvPr userDrawn="true"/>
        </p:nvPicPr>
        <p:blipFill>
          <a:blip r:embed="rId3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showMasterSp="false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true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true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true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true"/>
          </p:cNvPicPr>
          <p:nvPr userDrawn="true"/>
        </p:nvPicPr>
        <p:blipFill>
          <a:blip r:embed="rId1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true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kumimoji="true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true"/>
          </p:cNvPicPr>
          <p:nvPr userDrawn="true"/>
        </p:nvPicPr>
        <p:blipFill rotWithShape="true">
          <a:blip r:embed="rId1" cstate="print">
            <a:alphaModFix amt="35000"/>
            <a:biLevel thresh="25000"/>
            <a:extLst>
              <a:ext uri="{28A0092B-C50C-407E-A947-70E740481C1C}"/>
            </a:extLst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true"/>
          </p:cNvPicPr>
          <p:nvPr userDrawn="true"/>
        </p:nvPicPr>
        <p:blipFill>
          <a:blip r:embed="rId2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true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false">
            <a:spAutoFit/>
          </a:bodyPr>
          <a:lstStyle/>
          <a:p>
            <a:pPr marL="0" marR="0" lvl="0" indent="0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false" lang="zh-CN" altLang="en-US" sz="40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true"/>
          <p:nvPr userDrawn="true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FABC47A4-756D-490B-A52F-7D9E2C9FC05F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fals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false" ftr="false" dt="false"/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4.xml"/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true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杉集队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2026年10月31日</a:t>
            </a:r>
            <a:endParaRPr lang="zh-CN" altLang="en-US" sz="14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true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OH</a:t>
            </a:r>
            <a:r>
              <a:rPr lang="zh-CN" altLang="en-US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创新大赛赛道三作品提交</a:t>
            </a:r>
            <a:endParaRPr lang="en-US" altLang="zh-CN" sz="4800" b="true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true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zh-CN" altLang="en-US" sz="2800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杉集 —— 同校认证的校园闲置流转与互助平台</a:t>
            </a:r>
            <a:endParaRPr lang="en-US" altLang="zh-CN" sz="2800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true" dirty="fals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noProof="false" dirty="fals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dirty="false"/>
              <a:t>创作简介</a:t>
            </a:r>
            <a:endParaRPr kumimoji="true" lang="zh-CN" altLang="en-US" sz="2800" dirty="fals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true"/>
          <p:nvPr/>
        </p:nvSpPr>
        <p:spPr>
          <a:xfrm>
            <a:off x="681316" y="2986110"/>
            <a:ext cx="8516472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</a:t>
            </a:r>
            <a:r>
              <a:rPr lang="en-US" altLang="zh-CN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APP</a:t>
            </a: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（</a:t>
            </a:r>
            <a:r>
              <a:rPr lang="en-US" altLang="zh-CN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100</a:t>
            </a: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旧教材毕业即闲置、跑腿依赖群聊吆喝、校外人员混入交易群诈骗频发。我将闲置流转、跑腿互助、悬赏求助收敛进一个纯鸿蒙应用，用同校学生认证、信用分与敏感信息自动过滤构建信任底座，让校园互助安全、公平、有温度。</a:t>
            </a:r>
          </a:p>
        </p:txBody>
      </p:sp>
      <p:sp>
        <p:nvSpPr>
          <p:cNvPr id="19" name="文本框 4"/>
          <p:cNvSpPr txBox="true"/>
          <p:nvPr/>
        </p:nvSpPr>
        <p:spPr>
          <a:xfrm>
            <a:off x="681316" y="4569388"/>
            <a:ext cx="8516472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同校认证保安全、公平计价保透明、隐私打码保底线，闲置交易与跑腿互助一站式完成。</a:t>
            </a:r>
          </a:p>
        </p:txBody>
      </p:sp>
      <p:sp>
        <p:nvSpPr>
          <p:cNvPr id="20" name="文本框 4"/>
          <p:cNvSpPr txBox="true"/>
          <p:nvPr/>
        </p:nvSpPr>
        <p:spPr>
          <a:xfrm>
            <a:off x="681316" y="950500"/>
            <a:ext cx="8516472" cy="19816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团队简介：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队长：孙涵韬（独立完成设计、鸿蒙端与服务端开发）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团队成员：无（一人独立参赛）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学校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专业：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上海杉达学院 · 信息科学与技术学院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指导老师：无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联络人手机号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&amp;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微信号：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13601785818（微信同号）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sz="2800" dirty="fals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sp>
        <p:nvSpPr>
          <p:cNvPr id="24" name="文本框 3"/>
          <p:cNvSpPr txBox="true"/>
          <p:nvPr/>
        </p:nvSpPr>
        <p:spPr>
          <a:xfrm>
            <a:off x="600634" y="1109012"/>
            <a:ext cx="6800000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同校认证：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学号校验加脱敏展示，认证学生才可发布、接单、私聊，从源头隔离校外交易风险。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公平计价：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跑腿按份数、快递大小与重量统一计价，下单前完整展示费用明细，双方透明。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隐私打码：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聊天与发布中的手机号、微信、QQ、学号、银行卡号自动替换为【已隐藏】并提示。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求助专区：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悬赏求助与接单闭环，支持教材求购反向发布，供需双向撮合。</a:t>
            </a:r>
          </a:p>
        </p:txBody>
      </p:sp>
      <p:pic>
        <p:nvPicPr>
          <p:cNvPr id="40" name="杉集首页截图" descr="杉集集市首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000" y="1560000"/>
            <a:ext cx="1980000" cy="3520000"/>
          </a:xfrm>
          <a:prstGeom prst="rect">
            <a:avLst/>
          </a:prstGeom>
        </p:spPr>
      </p:pic>
      <p:pic>
        <p:nvPicPr>
          <p:cNvPr id="41" name="杉集聊天截图" descr="私聊隐私打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000" y="1560000"/>
            <a:ext cx="1980000" cy="35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5</a:t>
            </a:fld>
            <a:endParaRPr lang="zh-CN" altLang="en-US"/>
          </a:p>
        </p:txBody>
      </p:sp>
      <p:sp>
        <p:nvSpPr>
          <p:cNvPr id="27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创新性</a:t>
            </a:r>
            <a:endParaRPr/>
          </a:p>
        </p:txBody>
      </p:sp>
      <p:sp>
        <p:nvSpPr>
          <p:cNvPr id="28" name="文本框 3"/>
          <p:cNvSpPr txBox="true"/>
          <p:nvPr/>
        </p:nvSpPr>
        <p:spPr>
          <a:xfrm>
            <a:off x="600634" y="1109012"/>
            <a:ext cx="10900000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体验的创新与提升（每点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50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1、认证即信用：认证成功信用分+2，信用分随交易行为动态增减，沉淀同校信任体系。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2、食堂代选：菜品与口味结构化下单，微辣、免辣、不要香菜，跑腿不传错话。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3、拒聊与拉黑：任一方可单方面拒绝聊天，新消息即时停达，沟通自主权归还用户。</a:t>
            </a:r>
          </a:p>
        </p:txBody>
      </p:sp>
      <p:sp>
        <p:nvSpPr>
          <p:cNvPr id="29" name="文本框 4"/>
          <p:cNvSpPr txBox="true"/>
          <p:nvPr/>
        </p:nvSpPr>
        <p:spPr>
          <a:xfrm>
            <a:off x="600634" y="3923929"/>
            <a:ext cx="10900000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接入的鸿蒙特性（每点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50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字左右）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1、全程 ArkTS 与 ArkUI 声明式开发，Tabs 加 Navigation 管理多页面路由。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2、V2 状态管理（@Local/@Trace）配合 PersistenceV2，登录态与浏览历史持久化。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3、RelationalStore 管理收藏与草稿，Preferences 管理设置，适配手机与 PC 多形态。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6</a:t>
            </a:fld>
            <a:endParaRPr lang="zh-CN" altLang="en-US"/>
          </a:p>
        </p:txBody>
      </p:sp>
      <p:sp>
        <p:nvSpPr>
          <p:cNvPr id="32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商业价值</a:t>
            </a:r>
            <a:endParaRPr/>
          </a:p>
        </p:txBody>
      </p:sp>
      <p:sp>
        <p:nvSpPr>
          <p:cNvPr id="33" name="文本框 3"/>
          <p:cNvSpPr txBox="true"/>
          <p:nvPr/>
        </p:nvSpPr>
        <p:spPr>
          <a:xfrm>
            <a:off x="600634" y="1109012"/>
            <a:ext cx="10900000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用户范围、用户反馈、商业潜力等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以上海杉达学院为首批落点，服务全校在校学生；同校认证模式轻量，可低成本复制至同类高校。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用户反馈：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已完成校内真机全流程验证，覆盖二手教材、快递代拿、外卖跑腿、食堂代选与求助全场景闭环。</a:t>
            </a:r>
          </a:p>
          <a:p>
            <a:pPr fontAlgn="base">
              <a:lnSpc>
                <a:spcPct val="130000"/>
              </a:lnSpc>
              <a:spcBef>
                <a:spcPct val="60000"/>
              </a:spcBef>
            </a:pPr>
            <a:r>
              <a:rPr lang="zh-CN" altLang="en-US" sz="1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商业潜力：</a:t>
            </a:r>
            <a:r>
              <a:rPr lang="zh-CN" altLang="en-US" sz="12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二手与跑腿是校园高频刚需，可扩展失物招领、社团活动等场景，并探索校园周边商户的轻合作模式。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7</a:t>
            </a:fld>
            <a:endParaRPr lang="zh-CN" altLang="en-US"/>
          </a:p>
        </p:txBody>
      </p:sp>
      <p:sp>
        <p:nvSpPr>
          <p:cNvPr id="36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altLang="zh-CN" dirty="false"/>
              <a:t>Demo</a:t>
            </a:r>
            <a:endParaRPr lang="zh-CN" altLang="en-US" dirty="false"/>
          </a:p>
        </p:txBody>
      </p:sp>
      <p:pic xmlns:r="http://schemas.openxmlformats.org/officeDocument/2006/relationships">
        <p:nvPicPr>
          <p:cNvPr id="37" name="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41862" y="1234440"/>
            <a:ext cx="3113410" cy="5212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480" y="20116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A9F58"/>
                </a:solidFill>
              </a:rPr>
              <a:t>完整功能演示（1分56秒）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首页浏览与分类筛选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学生认证与脱敏展示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外卖跑腿发布·公平计价明细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私聊手机号自动隐藏打码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</a:rPr>
              <a:t>信用分与安全信任规则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true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0" marR="0" lvl="0" indent="0" algn="ctr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66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false" lang="en-US" altLang="zh-CN" sz="6600" b="true" i="false" u="none" strike="noStrike" kern="1200" cap="none" spc="0" normalizeH="false" baseline="0" noProof="false" dirty="false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2026-10-30T21:01:57Z</dcterms:created>
  <dcterms:modified xsi:type="dcterms:W3CDTF">2026-10-30T21:01:57Z</dcterms:modified>
</cp:coreProperties>
</file>